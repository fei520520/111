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9509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200" b="1">
                <a:solidFill>
                  <a:srgbClr val="C1392B"/>
                </a:solidFill>
                <a:latin typeface="微软雅黑"/>
                <a:ea typeface="微软雅黑"/>
              </a:rPr>
              <a:t>北邮 · 雏燕计划 · 项目介绍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1A1D24"/>
                </a:solidFill>
                <a:latin typeface="微软雅黑"/>
                <a:ea typeface="微软雅黑"/>
              </a:rPr>
              <a:t>先声 Warnfirst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1A1D24"/>
                </a:solidFill>
                <a:latin typeface="微软雅黑"/>
                <a:ea typeface="微软雅黑"/>
              </a:rPr>
              <a:t>安全优先的第一视角语音助理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微软雅黑"/>
                <a:ea typeface="微软雅黑"/>
              </a:rPr>
              <a:t>让视障者在「看懂」之前，先「不受伤」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892040"/>
            <a:ext cx="2834640" cy="18288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微软雅黑"/>
                <a:ea typeface="微软雅黑"/>
              </a:rPr>
              <a:t>周鹏飞（信息工程·大二）　伍明睿（信息工程·大二）　何嘉乐（人工智能·大二）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微软雅黑"/>
                <a:ea typeface="微软雅黑"/>
              </a:rPr>
              <a:t>刘一栋（人工智能·大二）　陈佳欣（英语·大一）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0A6"/>
                </a:solidFill>
                <a:latin typeface="微软雅黑"/>
                <a:ea typeface="微软雅黑"/>
              </a:rPr>
              <a:t>2026 年 10 月 31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01　问题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视障者每天要问的，其实是两类问题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045433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4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450" b="0">
                <a:solidFill>
                  <a:srgbClr val="1A1D24"/>
                </a:solidFill>
                <a:latin typeface="微软雅黑"/>
                <a:ea typeface="微软雅黑"/>
              </a:rPr>
              <a:t>找东西：我右手边是什么？桌上有没有我的杯子？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4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4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450" b="0">
                <a:solidFill>
                  <a:srgbClr val="1A1D24"/>
                </a:solidFill>
                <a:latin typeface="微软雅黑"/>
                <a:ea typeface="微软雅黑"/>
              </a:rPr>
              <a:t>走一段不熟的路：前面能走吗？脚下有台阶吗？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这两类问题中，第二类一旦答错或答晚，代价不可逆。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现有工具各自缺一块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1D24"/>
                </a:solidFill>
                <a:latin typeface="微软雅黑"/>
                <a:ea typeface="微软雅黑"/>
              </a:rPr>
              <a:t>读屏软件：只读屏幕，不读环境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1D24"/>
                </a:solidFill>
                <a:latin typeface="微软雅黑"/>
                <a:ea typeface="微软雅黑"/>
              </a:rPr>
              <a:t>导航应用：给路线，不给「此刻脚下」的判断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1D24"/>
                </a:solidFill>
                <a:latin typeface="微软雅黑"/>
                <a:ea typeface="微软雅黑"/>
              </a:rPr>
              <a:t>多模态助手：能描述画面，但所有回答抢同一条声道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长回答说到一半时，危险提示根本插不进去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15468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63640" y="3063240"/>
            <a:ext cx="45720" cy="1691640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15468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6B7280"/>
                </a:solidFill>
                <a:latin typeface="微软雅黑"/>
                <a:ea typeface="微软雅黑"/>
              </a:rPr>
              <a:t>所以真正缺的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A1D24"/>
                </a:solidFill>
                <a:latin typeface="微软雅黑"/>
                <a:ea typeface="微软雅黑"/>
              </a:rPr>
              <a:t>不是「能不能看懂画面」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D24"/>
                </a:solidFill>
                <a:latin typeface="微软雅黑"/>
                <a:ea typeface="微软雅黑"/>
              </a:rPr>
              <a:t>而是「该先说哪句、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1392B"/>
                </a:solidFill>
                <a:latin typeface="微软雅黑"/>
                <a:ea typeface="微软雅黑"/>
              </a:rPr>
              <a:t>什么时候必须打断」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02　我们的答案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一条声道，一个先说者：把「安全」当作硬约束而不是加分项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54335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4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450" b="0">
                <a:solidFill>
                  <a:srgbClr val="1A1D24"/>
                </a:solidFill>
                <a:latin typeface="微软雅黑"/>
                <a:ea typeface="微软雅黑"/>
              </a:rPr>
              <a:t>手机 / 头盔多视角采集 → 多模态模型理解环境 → 单一语音通道输出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4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4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450" b="0">
                <a:solidFill>
                  <a:srgbClr val="1A1D24"/>
                </a:solidFill>
                <a:latin typeface="微软雅黑"/>
                <a:ea typeface="微软雅黑"/>
              </a:rPr>
              <a:t>三条观察线各自独立跑：场景与地点、场景内变化、用户提出的要求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4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4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450" b="0">
                <a:solidFill>
                  <a:srgbClr val="1A1D24"/>
                </a:solidFill>
                <a:latin typeface="微软雅黑"/>
                <a:ea typeface="微软雅黑"/>
              </a:rPr>
              <a:t>安全通路独立于这三条线，随时可以抢占声道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104543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三条设计原则（先定原则，再写代码）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11880"/>
            <a:ext cx="3246120" cy="14813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611880"/>
            <a:ext cx="3246120" cy="4114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813048"/>
            <a:ext cx="278892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A1D24"/>
                </a:solidFill>
                <a:latin typeface="微软雅黑"/>
                <a:ea typeface="微软雅黑"/>
              </a:rPr>
              <a:t>安全不可加权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危险判断不是打分表里的一项。宁可让用户先停下等确认，也不冒险推进。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611880"/>
            <a:ext cx="3246120" cy="14813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611880"/>
            <a:ext cx="3246120" cy="4114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3813048"/>
            <a:ext cx="278892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A1D24"/>
                </a:solidFill>
                <a:latin typeface="微软雅黑"/>
                <a:ea typeface="微软雅黑"/>
              </a:rPr>
              <a:t>宁误报，不漏报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误报只是烦人，漏报会伤人。不确定且用户正在移动时，倾向减速或停下。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3611880"/>
            <a:ext cx="3246120" cy="14813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3611880"/>
            <a:ext cx="3246120" cy="4114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3813048"/>
            <a:ext cx="278892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A1D24"/>
                </a:solidFill>
                <a:latin typeface="微软雅黑"/>
                <a:ea typeface="微软雅黑"/>
              </a:rPr>
              <a:t>看不清就拒答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保留「未知」，允许事后修订；不把追问出的猜测写成事实。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03　系统结构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三条观察线 + 一条安全通路，共用一个声道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874519"/>
            <a:ext cx="3108960" cy="16002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121408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C1392B"/>
                </a:solidFill>
                <a:latin typeface="微软雅黑"/>
                <a:ea typeface="微软雅黑"/>
              </a:rPr>
              <a:t>输入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D24"/>
                </a:solidFill>
                <a:latin typeface="微软雅黑"/>
                <a:ea typeface="微软雅黑"/>
              </a:rPr>
              <a:t>手机摄像头 / 头盔三摄（前·左·右）
只给定性运动描述，不给坐标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874519"/>
            <a:ext cx="3108960" cy="16002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121408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C1392B"/>
                </a:solidFill>
                <a:latin typeface="微软雅黑"/>
                <a:ea typeface="微软雅黑"/>
              </a:rPr>
              <a:t>理解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D24"/>
                </a:solidFill>
                <a:latin typeface="微软雅黑"/>
                <a:ea typeface="微软雅黑"/>
              </a:rPr>
              <a:t>场景与地点 · 场景内变化 · 用户要求
多模态模型 + 图片记忆 + 可撤回记忆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874519"/>
            <a:ext cx="3108960" cy="16002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2121408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C1392B"/>
                </a:solidFill>
                <a:latin typeface="微软雅黑"/>
                <a:ea typeface="微软雅黑"/>
              </a:rPr>
              <a:t>输出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D24"/>
                </a:solidFill>
                <a:latin typeface="微软雅黑"/>
                <a:ea typeface="微软雅黑"/>
              </a:rPr>
              <a:t>单一语音通道
安全提示优先，其余回答排队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3360" y="2560320"/>
            <a:ext cx="365760" cy="237744"/>
          </a:xfrm>
          <a:prstGeom prst="rightArrow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635240" y="2560320"/>
            <a:ext cx="365760" cy="237744"/>
          </a:xfrm>
          <a:prstGeom prst="rightArrow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977639"/>
            <a:ext cx="10454335" cy="4114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1045433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安全通路（独立、最高优先级）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D24"/>
                </a:solidFill>
                <a:latin typeface="微软雅黑"/>
                <a:ea typeface="微软雅黑"/>
              </a:rPr>
              <a:t>危险检测 → 生成预警 → 抢占声道。这条路径不经过其他三条线的排队逻辑，因为「停下，前面有台…」被截断本身就会造成伤害。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97880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所有算法在当前版本运行在电脑端；手机只负责采集与播报。头盔三摄的驱动与同步尚未落地，现有成绩均来自仿真与录制的三视图。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04　技术点一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空间记忆：区域身份是「可修订的假设」，不是一次性判决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454335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>输入前 / 左 / 右三视图，先切出主体区域，再单独记录边界组与边界观察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>边界与未知显式保留：没看清楚的，就不写进已知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>图片记忆只回答一个保守问题：两张图是否共享同一块表面（SIFT + RANSAC 单应，内点阈值偏严）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>同一房间的毫无共同表面的两个角落，我们选择「不合」，而不是猜着合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>每次修订保留原图、时间与旧版本，误合并可以被撤回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66160"/>
            <a:ext cx="3246120" cy="13716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566160"/>
            <a:ext cx="3246120" cy="4114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767328"/>
            <a:ext cx="278892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A1D24"/>
                </a:solidFill>
                <a:latin typeface="微软雅黑"/>
                <a:ea typeface="微软雅黑"/>
              </a:rPr>
              <a:t>前 · 左 · 右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同光心三向视图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566160"/>
            <a:ext cx="3246120" cy="13716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566160"/>
            <a:ext cx="3246120" cy="4114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3767328"/>
            <a:ext cx="278892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A1D24"/>
                </a:solidFill>
                <a:latin typeface="微软雅黑"/>
                <a:ea typeface="微软雅黑"/>
              </a:rPr>
              <a:t>主体区域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粗粒度地点，可以说出口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3566160"/>
            <a:ext cx="3246120" cy="13716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3566160"/>
            <a:ext cx="3246120" cy="4114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3767328"/>
            <a:ext cx="278892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A1D24"/>
                </a:solidFill>
                <a:latin typeface="微软雅黑"/>
                <a:ea typeface="微软雅黑"/>
              </a:rPr>
              <a:t>边界组 / 未知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显式保留，不猜着归并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78808" y="4133087"/>
            <a:ext cx="365760" cy="237744"/>
          </a:xfrm>
          <a:prstGeom prst="rightArrow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699248" y="4133087"/>
            <a:ext cx="365760" cy="237744"/>
          </a:xfrm>
          <a:prstGeom prst="rightArrow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97880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这些机制的作用不是提高分数，而是让「改错」有成本可计、有痕迹可查。研究链路目前未接入实时助理。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05　技术点二（当前研究主线）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单一语音通道的调度：把「策略之争」变成可回放的实验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454335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>一条声道，多个候选语句：谁先说、要不要打断、被打断的怎么续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>反事实回放：同一批候选与到达时刻，喂给不同调度策略，差异只可能来自策略本身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>工作量扫描：27 个到达率组合 × 24 个随机种子 × 3 种策略，全部带种子可复现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5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50" b="0">
                <a:solidFill>
                  <a:srgbClr val="1A1D24"/>
                </a:solidFill>
                <a:latin typeface="微软雅黑"/>
                <a:ea typeface="微软雅黑"/>
              </a:rPr>
              <a:t>指标分开计：危险行「真丢失」「严格丢失」「被去重抑制」不是同一个数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3977639"/>
          <a:ext cx="10454333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06"/>
                <a:gridCol w="2560245"/>
                <a:gridCol w="2133537"/>
                <a:gridCol w="2560245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策略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严格丢失&gt;0 的格子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最高危险漏报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被打断的回答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safety-first（现用）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0 / 27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0.0%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11–99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safety-first（旧冷却）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18 / 27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4.9%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11–96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fifo（基线：不打断不去重）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27 / 27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36.4%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06　一次被自己的工具推翻的结论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我们原本相信「安全优先」更好——它只对了一半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454335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>工具跑出的第一组真实数据里，安全策略和基线在「危险被漏掉」这一项上打平了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>拆开看才发现：1.5 秒的「同类冷却」不看文本，把另一条完全不同的危险当成重复吞掉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– 「小心，前方有人靠近」播完 15 毫秒后，「小心，右边有台阶」被静默丢弃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>改成按文本去重后，同一个 27 格扫描里危险漏报归零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3429000"/>
          <a:ext cx="749807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2377439"/>
                <a:gridCol w="2377439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改前（按类型冷却）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改后（按文本去重）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27 格中严格丢失&gt;0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18 格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0 格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最高危险漏报率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4.9%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0.0%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代价（每 288 次回答）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多打断 0.33 次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732520" y="3429000"/>
            <a:ext cx="3063240" cy="1463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370332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C1392B"/>
                </a:solidFill>
                <a:latin typeface="微软雅黑"/>
                <a:ea typeface="微软雅黑"/>
              </a:rPr>
              <a:t>我们的体会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D24"/>
                </a:solidFill>
                <a:latin typeface="微软雅黑"/>
                <a:ea typeface="微软雅黑"/>
              </a:rPr>
              <a:t>能证伪自己的评测，比能证明自己的评测值钱。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07　目前的位置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做到的和没做到的，一样多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783080"/>
          <a:ext cx="1045433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7167"/>
                <a:gridCol w="5227167"/>
              </a:tblGrid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已经做到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还没做到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粗粒度区域查询 44/44（开发集，非独立验收）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边界召回仅 4/13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三视图记忆链路可离线复现：种子、输入哈希、失败样本全留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区域身份误合并 8.96%，同区域不同组仍会拆开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固定区域查询 22/44，可选事后修复 27/44（分别计分）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修复本身会引入新错误，净收益尚未为正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语音通道：27/27 格无严格漏报，基线 27/27 格均有漏报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真机危险漏报率仍是 0 个数据点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人工审核网站：97 样本 / 292 帧，记录拒绝理由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只有一名使用者、两个户型，n=1，不构成泛化证据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943600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我们不把开发集上的数字写成验收结论。上表左列每一项都有对应的失败样本留在仓库里。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08　工程底子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一个能反复出数、也能反复出错的实验台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454335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>TypeScript 服务与 Agent 约 138 个文件；Python 仿真与评测脚本 64 个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>AI2-THOR / ProcTHOR 生成带真值的室内 episode（帧 + 位姿 + 房间标签），真值从不喂给被测模块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>手机浏览器即可试用：HTTPS + 本地 CA、语音输入、语音播报、按回声基线自适应的打断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>测试覆盖：危险线与仲裁 37 项、记忆 75 项、视觉管线 61 项；付费模型调用不进回归套件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/>
            </a: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· </a:t>
            </a:r>
            <a:r>
              <a:rPr sz="1300" b="0">
                <a:solidFill>
                  <a:srgbClr val="1A1D24"/>
                </a:solidFill>
                <a:latin typeface="微软雅黑"/>
                <a:ea typeface="微软雅黑"/>
              </a:rPr>
              <a:t>每个实验保留原始模型响应、输入哈希与失败样本，包括没有成功的那些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97880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仓库旧标识为 first-sight，历史实验数据沿用 first-sight-* 协议名（如 first-sight-place-pairs-v1），改名不改历史结果的键。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09　团队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五个人，三种专业，各自对自己那块负责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828800"/>
          <a:ext cx="1045433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419"/>
                <a:gridCol w="2680598"/>
                <a:gridCol w="5897317"/>
              </a:tblGrid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成员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专业 / 年级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负责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周鹏飞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信息工程 · 大二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项目负责；语音通道调度与策略评测，整体联调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伍明睿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信息工程 · 大二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采集链路与硬件：摄像头、方向模块、标定与同步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何嘉乐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人工智能 · 大二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视觉理解与区域 / 边界算法，拒答与未知的处理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刘一栋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人工智能 · 大二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评测体系、数据集与仿真环境，指标与统计口径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陈佳欣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英语 · 大一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用户访谈与无障碍文案，英文文献综述与对外材料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989320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分工按当前实际投入列出，可随研究阶段调整；每个人的工作都对应仓库里可核查的提交与实验记录。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10　我们清楚的风险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先说短板，免得它以后变成返工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45720" cy="868680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691640"/>
            <a:ext cx="37490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D24"/>
                </a:solidFill>
                <a:latin typeface="微软雅黑"/>
                <a:ea typeface="微软雅黑"/>
              </a:rPr>
              <a:t>样本只有一个人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691640"/>
            <a:ext cx="624809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所有成绩来自一名使用者的录制与仿真。没拿到多人、多户型、盲审，就不能声称泛化。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807208"/>
            <a:ext cx="45720" cy="868680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807208"/>
            <a:ext cx="37490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D24"/>
                </a:solidFill>
                <a:latin typeface="微软雅黑"/>
                <a:ea typeface="微软雅黑"/>
              </a:rPr>
              <a:t>输入条件和现实不一致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807208"/>
            <a:ext cx="624809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研究用的是同步三视图，现实里只有单摄窄视野、顺序转动、无法测距。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22776"/>
            <a:ext cx="45720" cy="868680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922776"/>
            <a:ext cx="37490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D24"/>
                </a:solidFill>
                <a:latin typeface="微软雅黑"/>
                <a:ea typeface="微软雅黑"/>
              </a:rPr>
              <a:t>硬件还没落地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922776"/>
            <a:ext cx="624809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头盔三摄只做到接口预留；采集驱动、标定、时钟同步都还没验证。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038344"/>
            <a:ext cx="45720" cy="868680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5038344"/>
            <a:ext cx="37490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D24"/>
                </a:solidFill>
                <a:latin typeface="微软雅黑"/>
                <a:ea typeface="微软雅黑"/>
              </a:rPr>
              <a:t>模型本身不可控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5038344"/>
            <a:ext cx="624809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同一输入两次回答可能不同；我们的做法是固定协议、保留原始响应，而不是反复挑结果。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11　如果加入雏燕：十二个月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每一季都有「可被推翻」的产出，而不是「又加了一个模块」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783080"/>
          <a:ext cx="10454334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788"/>
                <a:gridCol w="3088780"/>
                <a:gridCol w="5464766"/>
              </a:tblGrid>
              <a:tr h="6858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要回答的问题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产出</a:t>
                      </a:r>
                    </a:p>
                  </a:txBody>
                  <a:tcPr marL="91440" marR="91440" marT="36576" marB="36576" anchor="ctr">
                    <a:solidFill>
                      <a:srgbClr val="1A1D2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2026.11–2027.01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危险提示在真机上到底漏多少？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≥3 个户型、≥2 名视障使用者的独立集；危险线首个真机漏报率数据点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2027.02–04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边界与身份能不能从 4/13 往上走？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固定主指标 + 盲审流程；误合并与修复净收益首次同时为正或明确证伪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2027.05–07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仿真成绩能不能迁移到真实头盔？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三摄采集、标定与同步打通；域差异首次量化；语音通道的中间策略（限长压缩、摘要续播）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2027.08–10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这套东西对真实用户是否有用？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D24"/>
                          </a:solidFill>
                          <a:latin typeface="微软雅黑"/>
                          <a:ea typeface="微软雅黑"/>
                        </a:rPr>
                        <a:t>10+ 人次端到端试用；论文初稿 / 专利交底书各一份</a:t>
                      </a:r>
                    </a:p>
                  </a:txBody>
                  <a:tcPr marL="91440" marR="91440" marT="36576" marB="36576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先声 Warnfirst · 北邮雏燕计划 · 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6928"/>
            <a:ext cx="68580" cy="56692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392B"/>
                </a:solidFill>
                <a:latin typeface="微软雅黑"/>
                <a:ea typeface="微软雅黑"/>
              </a:rPr>
              <a:t>12　希望得到的支持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D24"/>
                </a:solidFill>
                <a:latin typeface="微软雅黑"/>
                <a:ea typeface="微软雅黑"/>
              </a:rPr>
              <a:t>我们缺的不是想法，是外部约束和真实场景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3566160" cy="8412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901952"/>
            <a:ext cx="3154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方向把关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01952"/>
            <a:ext cx="66138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D24"/>
                </a:solidFill>
                <a:latin typeface="微软雅黑"/>
                <a:ea typeface="微软雅黑"/>
              </a:rPr>
              <a:t>空间记忆与语音调度，哪条作主线更容易做出可发表的结果——这个判断我们现在做不了。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798063"/>
            <a:ext cx="3566160" cy="8412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2962656"/>
            <a:ext cx="3154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模型调用与算力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62656"/>
            <a:ext cx="66138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D24"/>
                </a:solidFill>
                <a:latin typeface="微软雅黑"/>
                <a:ea typeface="微软雅黑"/>
              </a:rPr>
              <a:t>多模态模型的调用额度，用于固定协议的重复实验，而不是反复挑好结果。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58768"/>
            <a:ext cx="3566160" cy="8412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023359"/>
            <a:ext cx="3154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硬件与场地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023359"/>
            <a:ext cx="66138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D24"/>
                </a:solidFill>
                <a:latin typeface="微软雅黑"/>
                <a:ea typeface="微软雅黑"/>
              </a:rPr>
              <a:t>三摄 + 方向模块的采购与支架；一间可布置台阶、门、走廊的室内测试空间。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919471"/>
            <a:ext cx="3566160" cy="8412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5084063"/>
            <a:ext cx="3154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1392B"/>
                </a:solidFill>
                <a:latin typeface="微软雅黑"/>
                <a:ea typeface="微软雅黑"/>
              </a:rPr>
              <a:t>真实用户渠道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5084063"/>
            <a:ext cx="66138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D24"/>
                </a:solidFill>
                <a:latin typeface="微软雅黑"/>
                <a:ea typeface="微软雅黑"/>
              </a:rPr>
              <a:t>视障使用者的接触渠道（特教学校、残联、无障碍社群），用于访谈与试用。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6291072"/>
            <a:ext cx="10454335" cy="7315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9AA0A6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509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6B7280"/>
                </a:solidFill>
                <a:latin typeface="微软雅黑"/>
                <a:ea typeface="微软雅黑"/>
              </a:rPr>
              <a:t>先声 Warnfirst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D24"/>
                </a:solidFill>
                <a:latin typeface="微软雅黑"/>
                <a:ea typeface="微软雅黑"/>
              </a:rPr>
              <a:t>一个人走路的底气，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3000" b="1">
                <a:solidFill>
                  <a:srgbClr val="C1392B"/>
                </a:solidFill>
                <a:latin typeface="微软雅黑"/>
                <a:ea typeface="微软雅黑"/>
              </a:rPr>
              <a:t>不该来自「大概没事」。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谢谢，欢迎导师指出我们哪里想错了。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029200"/>
            <a:ext cx="2834640" cy="18288"/>
          </a:xfrm>
          <a:prstGeom prst="rect">
            <a:avLst/>
          </a:prstGeom>
          <a:solidFill>
            <a:srgbClr val="E4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25780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AA0A6"/>
                </a:solidFill>
                <a:latin typeface="微软雅黑"/>
                <a:ea typeface="微软雅黑"/>
              </a:rPr>
              <a:t>仓库：github.com/fei520520/111（历史标识 first-sight）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0A6"/>
                </a:solidFill>
                <a:latin typeface="微软雅黑"/>
                <a:ea typeface="微软雅黑"/>
              </a:rPr>
              <a:t>本 PPT 由 scripts/build-chuyan-deck.py 生成，数据口径见 docs/research/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